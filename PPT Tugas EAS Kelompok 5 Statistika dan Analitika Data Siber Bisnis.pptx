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icolage Grotesque Semi-Bold" charset="1" panose="020B0605040402000204"/>
      <p:regular r:id="rId17"/>
    </p:embeddedFont>
    <p:embeddedFont>
      <p:font typeface="Thicker Bold" charset="1" panose="00000800000000000000"/>
      <p:regular r:id="rId18"/>
    </p:embeddedFont>
    <p:embeddedFont>
      <p:font typeface="Thicker" charset="1" panose="00000500000000000000"/>
      <p:regular r:id="rId19"/>
    </p:embeddedFont>
    <p:embeddedFont>
      <p:font typeface="Bricolage Grotesque Bold" charset="1" panose="020B0605040402000204"/>
      <p:regular r:id="rId20"/>
    </p:embeddedFont>
    <p:embeddedFont>
      <p:font typeface="Fredoka" charset="1" panose="02000000000000000000"/>
      <p:regular r:id="rId21"/>
    </p:embeddedFont>
    <p:embeddedFont>
      <p:font typeface="Saint George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30276" y="-2046599"/>
            <a:ext cx="14171941" cy="13063953"/>
          </a:xfrm>
          <a:custGeom>
            <a:avLst/>
            <a:gdLst/>
            <a:ahLst/>
            <a:cxnLst/>
            <a:rect r="r" b="b" t="t" l="l"/>
            <a:pathLst>
              <a:path h="13063953" w="14171941">
                <a:moveTo>
                  <a:pt x="0" y="0"/>
                </a:moveTo>
                <a:lnTo>
                  <a:pt x="14171941" y="0"/>
                </a:lnTo>
                <a:lnTo>
                  <a:pt x="14171941" y="13063953"/>
                </a:lnTo>
                <a:lnTo>
                  <a:pt x="0" y="1306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2641" y="2106208"/>
            <a:ext cx="6452432" cy="5173677"/>
          </a:xfrm>
          <a:custGeom>
            <a:avLst/>
            <a:gdLst/>
            <a:ahLst/>
            <a:cxnLst/>
            <a:rect r="r" b="b" t="t" l="l"/>
            <a:pathLst>
              <a:path h="5173677" w="6452432">
                <a:moveTo>
                  <a:pt x="0" y="0"/>
                </a:moveTo>
                <a:lnTo>
                  <a:pt x="6452432" y="0"/>
                </a:lnTo>
                <a:lnTo>
                  <a:pt x="6452432" y="5173677"/>
                </a:lnTo>
                <a:lnTo>
                  <a:pt x="0" y="5173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01751" y="6741587"/>
            <a:ext cx="6063566" cy="4729581"/>
          </a:xfrm>
          <a:custGeom>
            <a:avLst/>
            <a:gdLst/>
            <a:ahLst/>
            <a:cxnLst/>
            <a:rect r="r" b="b" t="t" l="l"/>
            <a:pathLst>
              <a:path h="4729581" w="6063566">
                <a:moveTo>
                  <a:pt x="0" y="0"/>
                </a:moveTo>
                <a:lnTo>
                  <a:pt x="6063566" y="0"/>
                </a:lnTo>
                <a:lnTo>
                  <a:pt x="6063566" y="4729581"/>
                </a:lnTo>
                <a:lnTo>
                  <a:pt x="0" y="472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37430" y="7653512"/>
            <a:ext cx="5643741" cy="4114800"/>
          </a:xfrm>
          <a:custGeom>
            <a:avLst/>
            <a:gdLst/>
            <a:ahLst/>
            <a:cxnLst/>
            <a:rect r="r" b="b" t="t" l="l"/>
            <a:pathLst>
              <a:path h="4114800" w="5643741">
                <a:moveTo>
                  <a:pt x="0" y="0"/>
                </a:moveTo>
                <a:lnTo>
                  <a:pt x="5643740" y="0"/>
                </a:lnTo>
                <a:lnTo>
                  <a:pt x="5643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653690" y="-2614424"/>
            <a:ext cx="4287655" cy="5228847"/>
          </a:xfrm>
          <a:custGeom>
            <a:avLst/>
            <a:gdLst/>
            <a:ahLst/>
            <a:cxnLst/>
            <a:rect r="r" b="b" t="t" l="l"/>
            <a:pathLst>
              <a:path h="5228847" w="4287655">
                <a:moveTo>
                  <a:pt x="0" y="0"/>
                </a:moveTo>
                <a:lnTo>
                  <a:pt x="4287654" y="0"/>
                </a:lnTo>
                <a:lnTo>
                  <a:pt x="4287654" y="5228848"/>
                </a:lnTo>
                <a:lnTo>
                  <a:pt x="0" y="5228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68846"/>
            <a:ext cx="7579840" cy="632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spc="-675" b="true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Laporan Tugas kelompok 5- Stat</a:t>
            </a:r>
            <a:r>
              <a:rPr lang="en-US" b="true" sz="9000" spc="-675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istika &amp; Analitika Data siber Bisnis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9049" y="-574296"/>
            <a:ext cx="14171941" cy="13063953"/>
          </a:xfrm>
          <a:custGeom>
            <a:avLst/>
            <a:gdLst/>
            <a:ahLst/>
            <a:cxnLst/>
            <a:rect r="r" b="b" t="t" l="l"/>
            <a:pathLst>
              <a:path h="13063953" w="14171941">
                <a:moveTo>
                  <a:pt x="0" y="0"/>
                </a:moveTo>
                <a:lnTo>
                  <a:pt x="14171941" y="0"/>
                </a:lnTo>
                <a:lnTo>
                  <a:pt x="14171941" y="13063953"/>
                </a:lnTo>
                <a:lnTo>
                  <a:pt x="0" y="1306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38782" y="4432033"/>
            <a:ext cx="6619569" cy="4826267"/>
          </a:xfrm>
          <a:custGeom>
            <a:avLst/>
            <a:gdLst/>
            <a:ahLst/>
            <a:cxnLst/>
            <a:rect r="r" b="b" t="t" l="l"/>
            <a:pathLst>
              <a:path h="4826267" w="6619569">
                <a:moveTo>
                  <a:pt x="0" y="0"/>
                </a:moveTo>
                <a:lnTo>
                  <a:pt x="6619569" y="0"/>
                </a:lnTo>
                <a:lnTo>
                  <a:pt x="6619569" y="4826267"/>
                </a:lnTo>
                <a:lnTo>
                  <a:pt x="0" y="48262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94037" y="7104176"/>
            <a:ext cx="6063566" cy="4729581"/>
          </a:xfrm>
          <a:custGeom>
            <a:avLst/>
            <a:gdLst/>
            <a:ahLst/>
            <a:cxnLst/>
            <a:rect r="r" b="b" t="t" l="l"/>
            <a:pathLst>
              <a:path h="4729581" w="6063566">
                <a:moveTo>
                  <a:pt x="0" y="0"/>
                </a:moveTo>
                <a:lnTo>
                  <a:pt x="6063566" y="0"/>
                </a:lnTo>
                <a:lnTo>
                  <a:pt x="6063566" y="4729581"/>
                </a:lnTo>
                <a:lnTo>
                  <a:pt x="0" y="472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93669" y="-1497226"/>
            <a:ext cx="6063566" cy="4729581"/>
          </a:xfrm>
          <a:custGeom>
            <a:avLst/>
            <a:gdLst/>
            <a:ahLst/>
            <a:cxnLst/>
            <a:rect r="r" b="b" t="t" l="l"/>
            <a:pathLst>
              <a:path h="4729581" w="6063566">
                <a:moveTo>
                  <a:pt x="0" y="0"/>
                </a:moveTo>
                <a:lnTo>
                  <a:pt x="6063565" y="0"/>
                </a:lnTo>
                <a:lnTo>
                  <a:pt x="6063565" y="4729581"/>
                </a:lnTo>
                <a:lnTo>
                  <a:pt x="0" y="47295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880787" y="1276350"/>
            <a:ext cx="7579840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9000" spc="-675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Disusun</a:t>
            </a:r>
          </a:p>
          <a:p>
            <a:pPr algn="ctr">
              <a:lnSpc>
                <a:spcPts val="8100"/>
              </a:lnSpc>
            </a:pPr>
            <a:r>
              <a:rPr lang="en-US" b="true" sz="9000" spc="-675">
                <a:solidFill>
                  <a:srgbClr val="000000"/>
                </a:solidFill>
                <a:latin typeface="Bricolage Grotesque Semi-Bold"/>
                <a:ea typeface="Bricolage Grotesque Semi-Bold"/>
                <a:cs typeface="Bricolage Grotesque Semi-Bold"/>
                <a:sym typeface="Bricolage Grotesque Semi-Bold"/>
              </a:rPr>
              <a:t>Oleh: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31873" y="3759402"/>
            <a:ext cx="4877668" cy="1666653"/>
            <a:chOff x="0" y="0"/>
            <a:chExt cx="1284653" cy="438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4653" cy="438954"/>
            </a:xfrm>
            <a:custGeom>
              <a:avLst/>
              <a:gdLst/>
              <a:ahLst/>
              <a:cxnLst/>
              <a:rect r="r" b="b" t="t" l="l"/>
              <a:pathLst>
                <a:path h="438954" w="1284653">
                  <a:moveTo>
                    <a:pt x="47617" y="0"/>
                  </a:moveTo>
                  <a:lnTo>
                    <a:pt x="1237037" y="0"/>
                  </a:lnTo>
                  <a:cubicBezTo>
                    <a:pt x="1263335" y="0"/>
                    <a:pt x="1284653" y="21319"/>
                    <a:pt x="1284653" y="47617"/>
                  </a:cubicBezTo>
                  <a:lnTo>
                    <a:pt x="1284653" y="391337"/>
                  </a:lnTo>
                  <a:cubicBezTo>
                    <a:pt x="1284653" y="403966"/>
                    <a:pt x="1279637" y="416078"/>
                    <a:pt x="1270707" y="425007"/>
                  </a:cubicBezTo>
                  <a:cubicBezTo>
                    <a:pt x="1261777" y="433937"/>
                    <a:pt x="1249665" y="438954"/>
                    <a:pt x="1237037" y="438954"/>
                  </a:cubicBezTo>
                  <a:lnTo>
                    <a:pt x="47617" y="438954"/>
                  </a:lnTo>
                  <a:cubicBezTo>
                    <a:pt x="34988" y="438954"/>
                    <a:pt x="22876" y="433937"/>
                    <a:pt x="13947" y="425007"/>
                  </a:cubicBezTo>
                  <a:cubicBezTo>
                    <a:pt x="5017" y="416078"/>
                    <a:pt x="0" y="403966"/>
                    <a:pt x="0" y="391337"/>
                  </a:cubicBezTo>
                  <a:lnTo>
                    <a:pt x="0" y="47617"/>
                  </a:lnTo>
                  <a:cubicBezTo>
                    <a:pt x="0" y="34988"/>
                    <a:pt x="5017" y="22876"/>
                    <a:pt x="13947" y="13947"/>
                  </a:cubicBezTo>
                  <a:cubicBezTo>
                    <a:pt x="22876" y="5017"/>
                    <a:pt x="34988" y="0"/>
                    <a:pt x="47617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284653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231873" y="5762788"/>
            <a:ext cx="4877668" cy="1666653"/>
            <a:chOff x="0" y="0"/>
            <a:chExt cx="1284653" cy="4389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4653" cy="438954"/>
            </a:xfrm>
            <a:custGeom>
              <a:avLst/>
              <a:gdLst/>
              <a:ahLst/>
              <a:cxnLst/>
              <a:rect r="r" b="b" t="t" l="l"/>
              <a:pathLst>
                <a:path h="438954" w="1284653">
                  <a:moveTo>
                    <a:pt x="47617" y="0"/>
                  </a:moveTo>
                  <a:lnTo>
                    <a:pt x="1237037" y="0"/>
                  </a:lnTo>
                  <a:cubicBezTo>
                    <a:pt x="1263335" y="0"/>
                    <a:pt x="1284653" y="21319"/>
                    <a:pt x="1284653" y="47617"/>
                  </a:cubicBezTo>
                  <a:lnTo>
                    <a:pt x="1284653" y="391337"/>
                  </a:lnTo>
                  <a:cubicBezTo>
                    <a:pt x="1284653" y="403966"/>
                    <a:pt x="1279637" y="416078"/>
                    <a:pt x="1270707" y="425007"/>
                  </a:cubicBezTo>
                  <a:cubicBezTo>
                    <a:pt x="1261777" y="433937"/>
                    <a:pt x="1249665" y="438954"/>
                    <a:pt x="1237037" y="438954"/>
                  </a:cubicBezTo>
                  <a:lnTo>
                    <a:pt x="47617" y="438954"/>
                  </a:lnTo>
                  <a:cubicBezTo>
                    <a:pt x="34988" y="438954"/>
                    <a:pt x="22876" y="433937"/>
                    <a:pt x="13947" y="425007"/>
                  </a:cubicBezTo>
                  <a:cubicBezTo>
                    <a:pt x="5017" y="416078"/>
                    <a:pt x="0" y="403966"/>
                    <a:pt x="0" y="391337"/>
                  </a:cubicBezTo>
                  <a:lnTo>
                    <a:pt x="0" y="47617"/>
                  </a:lnTo>
                  <a:cubicBezTo>
                    <a:pt x="0" y="34988"/>
                    <a:pt x="5017" y="22876"/>
                    <a:pt x="13947" y="13947"/>
                  </a:cubicBezTo>
                  <a:cubicBezTo>
                    <a:pt x="22876" y="5017"/>
                    <a:pt x="34988" y="0"/>
                    <a:pt x="47617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84653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31873" y="7762816"/>
            <a:ext cx="4877668" cy="1666653"/>
            <a:chOff x="0" y="0"/>
            <a:chExt cx="1284653" cy="43895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4653" cy="438954"/>
            </a:xfrm>
            <a:custGeom>
              <a:avLst/>
              <a:gdLst/>
              <a:ahLst/>
              <a:cxnLst/>
              <a:rect r="r" b="b" t="t" l="l"/>
              <a:pathLst>
                <a:path h="438954" w="1284653">
                  <a:moveTo>
                    <a:pt x="47617" y="0"/>
                  </a:moveTo>
                  <a:lnTo>
                    <a:pt x="1237037" y="0"/>
                  </a:lnTo>
                  <a:cubicBezTo>
                    <a:pt x="1263335" y="0"/>
                    <a:pt x="1284653" y="21319"/>
                    <a:pt x="1284653" y="47617"/>
                  </a:cubicBezTo>
                  <a:lnTo>
                    <a:pt x="1284653" y="391337"/>
                  </a:lnTo>
                  <a:cubicBezTo>
                    <a:pt x="1284653" y="403966"/>
                    <a:pt x="1279637" y="416078"/>
                    <a:pt x="1270707" y="425007"/>
                  </a:cubicBezTo>
                  <a:cubicBezTo>
                    <a:pt x="1261777" y="433937"/>
                    <a:pt x="1249665" y="438954"/>
                    <a:pt x="1237037" y="438954"/>
                  </a:cubicBezTo>
                  <a:lnTo>
                    <a:pt x="47617" y="438954"/>
                  </a:lnTo>
                  <a:cubicBezTo>
                    <a:pt x="34988" y="438954"/>
                    <a:pt x="22876" y="433937"/>
                    <a:pt x="13947" y="425007"/>
                  </a:cubicBezTo>
                  <a:cubicBezTo>
                    <a:pt x="5017" y="416078"/>
                    <a:pt x="0" y="403966"/>
                    <a:pt x="0" y="391337"/>
                  </a:cubicBezTo>
                  <a:lnTo>
                    <a:pt x="0" y="47617"/>
                  </a:lnTo>
                  <a:cubicBezTo>
                    <a:pt x="0" y="34988"/>
                    <a:pt x="5017" y="22876"/>
                    <a:pt x="13947" y="13947"/>
                  </a:cubicBezTo>
                  <a:cubicBezTo>
                    <a:pt x="22876" y="5017"/>
                    <a:pt x="34988" y="0"/>
                    <a:pt x="47617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1284653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44289" y="3845888"/>
            <a:ext cx="4135012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3499" spc="-34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ANDARA EKA VALENT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44289" y="6127497"/>
            <a:ext cx="4135012" cy="631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3499" spc="-34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CAGAR NALENDRA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44289" y="7885002"/>
            <a:ext cx="4135012" cy="99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b="true" sz="3000" spc="-30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ALIEFA GLADIES OKTAVIA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44289" y="4840750"/>
            <a:ext cx="4135012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spc="-24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1482400023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44289" y="6649374"/>
            <a:ext cx="4135012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spc="-24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1482400068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4289" y="8804275"/>
            <a:ext cx="4135012" cy="41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9"/>
              </a:lnSpc>
            </a:pPr>
            <a:r>
              <a:rPr lang="en-US" sz="2499" spc="-24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1482400073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-784625"/>
            <a:ext cx="14171941" cy="13063953"/>
          </a:xfrm>
          <a:custGeom>
            <a:avLst/>
            <a:gdLst/>
            <a:ahLst/>
            <a:cxnLst/>
            <a:rect r="r" b="b" t="t" l="l"/>
            <a:pathLst>
              <a:path h="13063953" w="14171941">
                <a:moveTo>
                  <a:pt x="0" y="0"/>
                </a:moveTo>
                <a:lnTo>
                  <a:pt x="14171941" y="0"/>
                </a:lnTo>
                <a:lnTo>
                  <a:pt x="14171941" y="13063953"/>
                </a:lnTo>
                <a:lnTo>
                  <a:pt x="0" y="1306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73765" y="657225"/>
            <a:ext cx="10340471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b="true" sz="9000" spc="-6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Pendahuluan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04592" y="2058066"/>
            <a:ext cx="6053164" cy="1666653"/>
            <a:chOff x="0" y="0"/>
            <a:chExt cx="1594249" cy="4389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304592" y="4181919"/>
            <a:ext cx="6053164" cy="1666653"/>
            <a:chOff x="0" y="0"/>
            <a:chExt cx="1594249" cy="4389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04592" y="6391497"/>
            <a:ext cx="6053164" cy="1666653"/>
            <a:chOff x="0" y="0"/>
            <a:chExt cx="1594249" cy="43895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600568" y="2514122"/>
            <a:ext cx="54612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RINGKASAN TUJUAN &amp; RUANG LINGKUP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600568" y="4637975"/>
            <a:ext cx="54612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TEMUAN EDA — GAMBARAN UMUM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00568" y="7019003"/>
            <a:ext cx="54612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TREN INSIDEN HARIAN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30244" y="6391497"/>
            <a:ext cx="6053164" cy="1666653"/>
            <a:chOff x="0" y="0"/>
            <a:chExt cx="1594249" cy="4389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117418" y="8401050"/>
            <a:ext cx="6053164" cy="1666653"/>
            <a:chOff x="0" y="0"/>
            <a:chExt cx="1594249" cy="4389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30244" y="4181919"/>
            <a:ext cx="6053164" cy="1666653"/>
            <a:chOff x="0" y="0"/>
            <a:chExt cx="1594249" cy="4389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30244" y="2058066"/>
            <a:ext cx="6053164" cy="1666653"/>
            <a:chOff x="0" y="0"/>
            <a:chExt cx="1594249" cy="4389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594249" cy="438954"/>
            </a:xfrm>
            <a:custGeom>
              <a:avLst/>
              <a:gdLst/>
              <a:ahLst/>
              <a:cxnLst/>
              <a:rect r="r" b="b" t="t" l="l"/>
              <a:pathLst>
                <a:path h="438954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00584"/>
                  </a:lnTo>
                  <a:cubicBezTo>
                    <a:pt x="1594249" y="421775"/>
                    <a:pt x="1577070" y="438954"/>
                    <a:pt x="1555879" y="438954"/>
                  </a:cubicBezTo>
                  <a:lnTo>
                    <a:pt x="38370" y="438954"/>
                  </a:lnTo>
                  <a:cubicBezTo>
                    <a:pt x="28193" y="438954"/>
                    <a:pt x="18434" y="434911"/>
                    <a:pt x="11238" y="427716"/>
                  </a:cubicBezTo>
                  <a:cubicBezTo>
                    <a:pt x="4043" y="420520"/>
                    <a:pt x="0" y="410760"/>
                    <a:pt x="0" y="400584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28575"/>
              <a:ext cx="1594249" cy="4103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26220" y="6847553"/>
            <a:ext cx="54612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RINGKASAN TEMUAN UTAMA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413394" y="8857106"/>
            <a:ext cx="5461212" cy="78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KESIMPULAN &amp; REKOMENDASI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26220" y="4495100"/>
            <a:ext cx="546121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ANALISIS PER KATEGORI (SEVERITY &amp; ANOMALY_TYPE)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26220" y="2704656"/>
            <a:ext cx="546121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spc="-30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METODE SINGKAT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33629" y="-3248303"/>
            <a:ext cx="18913303" cy="17434627"/>
          </a:xfrm>
          <a:custGeom>
            <a:avLst/>
            <a:gdLst/>
            <a:ahLst/>
            <a:cxnLst/>
            <a:rect r="r" b="b" t="t" l="l"/>
            <a:pathLst>
              <a:path h="17434627" w="18913303">
                <a:moveTo>
                  <a:pt x="0" y="0"/>
                </a:moveTo>
                <a:lnTo>
                  <a:pt x="18913303" y="0"/>
                </a:lnTo>
                <a:lnTo>
                  <a:pt x="18913303" y="17434627"/>
                </a:lnTo>
                <a:lnTo>
                  <a:pt x="0" y="17434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64414" y="5469011"/>
            <a:ext cx="6452432" cy="5173677"/>
          </a:xfrm>
          <a:custGeom>
            <a:avLst/>
            <a:gdLst/>
            <a:ahLst/>
            <a:cxnLst/>
            <a:rect r="r" b="b" t="t" l="l"/>
            <a:pathLst>
              <a:path h="5173677" w="6452432">
                <a:moveTo>
                  <a:pt x="0" y="0"/>
                </a:moveTo>
                <a:lnTo>
                  <a:pt x="6452432" y="0"/>
                </a:lnTo>
                <a:lnTo>
                  <a:pt x="6452432" y="5173677"/>
                </a:lnTo>
                <a:lnTo>
                  <a:pt x="0" y="51736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33629" y="8861806"/>
            <a:ext cx="6826306" cy="5324519"/>
          </a:xfrm>
          <a:custGeom>
            <a:avLst/>
            <a:gdLst/>
            <a:ahLst/>
            <a:cxnLst/>
            <a:rect r="r" b="b" t="t" l="l"/>
            <a:pathLst>
              <a:path h="5324519" w="6826306">
                <a:moveTo>
                  <a:pt x="0" y="0"/>
                </a:moveTo>
                <a:lnTo>
                  <a:pt x="6826306" y="0"/>
                </a:lnTo>
                <a:lnTo>
                  <a:pt x="6826306" y="5324518"/>
                </a:lnTo>
                <a:lnTo>
                  <a:pt x="0" y="53245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89699" y="657225"/>
            <a:ext cx="10340471" cy="215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spc="-67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Ri</a:t>
            </a:r>
            <a:r>
              <a:rPr lang="en-US" b="true" sz="9000" spc="-6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ngkasan Tujuan &amp; Ruang Lingkup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289699" y="3152831"/>
            <a:ext cx="6053164" cy="2925633"/>
            <a:chOff x="0" y="0"/>
            <a:chExt cx="1594249" cy="7705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4249" cy="770537"/>
            </a:xfrm>
            <a:custGeom>
              <a:avLst/>
              <a:gdLst/>
              <a:ahLst/>
              <a:cxnLst/>
              <a:rect r="r" b="b" t="t" l="l"/>
              <a:pathLst>
                <a:path h="770537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732168"/>
                  </a:lnTo>
                  <a:cubicBezTo>
                    <a:pt x="1594249" y="753359"/>
                    <a:pt x="1577070" y="770537"/>
                    <a:pt x="1555879" y="770537"/>
                  </a:cubicBezTo>
                  <a:lnTo>
                    <a:pt x="38370" y="770537"/>
                  </a:lnTo>
                  <a:cubicBezTo>
                    <a:pt x="28193" y="770537"/>
                    <a:pt x="18434" y="766495"/>
                    <a:pt x="11238" y="759299"/>
                  </a:cubicBezTo>
                  <a:cubicBezTo>
                    <a:pt x="4043" y="752103"/>
                    <a:pt x="0" y="742344"/>
                    <a:pt x="0" y="732168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28575"/>
              <a:ext cx="1594249" cy="741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35162" y="3152831"/>
            <a:ext cx="6053164" cy="2505151"/>
            <a:chOff x="0" y="0"/>
            <a:chExt cx="1594249" cy="6597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94249" cy="659793"/>
            </a:xfrm>
            <a:custGeom>
              <a:avLst/>
              <a:gdLst/>
              <a:ahLst/>
              <a:cxnLst/>
              <a:rect r="r" b="b" t="t" l="l"/>
              <a:pathLst>
                <a:path h="659793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621423"/>
                  </a:lnTo>
                  <a:cubicBezTo>
                    <a:pt x="1594249" y="642614"/>
                    <a:pt x="1577070" y="659793"/>
                    <a:pt x="1555879" y="659793"/>
                  </a:cubicBezTo>
                  <a:lnTo>
                    <a:pt x="38370" y="659793"/>
                  </a:lnTo>
                  <a:cubicBezTo>
                    <a:pt x="28193" y="659793"/>
                    <a:pt x="18434" y="655750"/>
                    <a:pt x="11238" y="648555"/>
                  </a:cubicBezTo>
                  <a:cubicBezTo>
                    <a:pt x="4043" y="641359"/>
                    <a:pt x="0" y="631599"/>
                    <a:pt x="0" y="621423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28575"/>
              <a:ext cx="1594249" cy="631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41701" y="6564240"/>
            <a:ext cx="6053164" cy="2013486"/>
            <a:chOff x="0" y="0"/>
            <a:chExt cx="1594249" cy="53030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94249" cy="530301"/>
            </a:xfrm>
            <a:custGeom>
              <a:avLst/>
              <a:gdLst/>
              <a:ahLst/>
              <a:cxnLst/>
              <a:rect r="r" b="b" t="t" l="l"/>
              <a:pathLst>
                <a:path h="530301" w="1594249">
                  <a:moveTo>
                    <a:pt x="38370" y="0"/>
                  </a:moveTo>
                  <a:lnTo>
                    <a:pt x="1555879" y="0"/>
                  </a:lnTo>
                  <a:cubicBezTo>
                    <a:pt x="1566056" y="0"/>
                    <a:pt x="1575815" y="4043"/>
                    <a:pt x="1583011" y="11238"/>
                  </a:cubicBezTo>
                  <a:cubicBezTo>
                    <a:pt x="1590206" y="18434"/>
                    <a:pt x="1594249" y="28193"/>
                    <a:pt x="1594249" y="38370"/>
                  </a:cubicBezTo>
                  <a:lnTo>
                    <a:pt x="1594249" y="491931"/>
                  </a:lnTo>
                  <a:cubicBezTo>
                    <a:pt x="1594249" y="502107"/>
                    <a:pt x="1590206" y="511867"/>
                    <a:pt x="1583011" y="519063"/>
                  </a:cubicBezTo>
                  <a:cubicBezTo>
                    <a:pt x="1575815" y="526258"/>
                    <a:pt x="1566056" y="530301"/>
                    <a:pt x="1555879" y="530301"/>
                  </a:cubicBezTo>
                  <a:lnTo>
                    <a:pt x="38370" y="530301"/>
                  </a:lnTo>
                  <a:cubicBezTo>
                    <a:pt x="28193" y="530301"/>
                    <a:pt x="18434" y="526258"/>
                    <a:pt x="11238" y="519063"/>
                  </a:cubicBezTo>
                  <a:cubicBezTo>
                    <a:pt x="4043" y="511867"/>
                    <a:pt x="0" y="502107"/>
                    <a:pt x="0" y="491931"/>
                  </a:cubicBezTo>
                  <a:lnTo>
                    <a:pt x="0" y="38370"/>
                  </a:lnTo>
                  <a:cubicBezTo>
                    <a:pt x="0" y="28193"/>
                    <a:pt x="4043" y="18434"/>
                    <a:pt x="11238" y="11238"/>
                  </a:cubicBezTo>
                  <a:cubicBezTo>
                    <a:pt x="18434" y="4043"/>
                    <a:pt x="28193" y="0"/>
                    <a:pt x="38370" y="0"/>
                  </a:cubicBezTo>
                  <a:close/>
                </a:path>
              </a:pathLst>
            </a:custGeom>
            <a:solidFill>
              <a:srgbClr val="FFCF33"/>
            </a:solidFill>
            <a:ln w="19050" cap="rnd">
              <a:solidFill>
                <a:srgbClr val="6E026F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28575"/>
              <a:ext cx="1594249" cy="5017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8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5522820" y="3068732"/>
            <a:ext cx="5586922" cy="75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0"/>
              </a:lnSpc>
            </a:pPr>
            <a:r>
              <a:rPr lang="en-US" sz="350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T</a:t>
            </a:r>
            <a:r>
              <a:rPr lang="en-US" sz="350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ujuan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68283" y="3068732"/>
            <a:ext cx="5586922" cy="75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0"/>
              </a:lnSpc>
            </a:pPr>
            <a:r>
              <a:rPr lang="en-US" sz="350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Data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074822" y="6480140"/>
            <a:ext cx="5586922" cy="753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90"/>
              </a:lnSpc>
            </a:pPr>
            <a:r>
              <a:rPr lang="en-US" sz="350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Variabel Utama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2820" y="3892218"/>
            <a:ext cx="5586922" cy="2006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Menganalisis distribusi Response_Time_ms, memb</a:t>
            </a: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uktikan CLT lewat simulasi, dan menghitung CI 95% untuk rata-rata waktu respons.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68283" y="3892218"/>
            <a:ext cx="5586922" cy="152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Logging &amp; Monitoring Anomalies Da</a:t>
            </a: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taset (Kaggle): 100.000 baris × 31 kolom, periode 1 Jan–11 Mar 2025.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74822" y="7303626"/>
            <a:ext cx="5586922" cy="103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9"/>
              </a:lnSpc>
            </a:pP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Response_Time_ms (m</a:t>
            </a:r>
            <a:r>
              <a:rPr lang="en-US" sz="2499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s). Pendukung: Severity, Anomaly_Type.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6069" y="-2764119"/>
            <a:ext cx="16008183" cy="14756634"/>
          </a:xfrm>
          <a:custGeom>
            <a:avLst/>
            <a:gdLst/>
            <a:ahLst/>
            <a:cxnLst/>
            <a:rect r="r" b="b" t="t" l="l"/>
            <a:pathLst>
              <a:path h="14756634" w="16008183">
                <a:moveTo>
                  <a:pt x="0" y="0"/>
                </a:moveTo>
                <a:lnTo>
                  <a:pt x="16008182" y="0"/>
                </a:lnTo>
                <a:lnTo>
                  <a:pt x="16008182" y="14756634"/>
                </a:lnTo>
                <a:lnTo>
                  <a:pt x="0" y="147566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086100"/>
            <a:ext cx="10358802" cy="495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Anal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isis dilakukan di Google Colab (Python): pandas, matplotlib, seaborn, scipy.stats. Tahapan: EDA → Simulasi sampling distribution → Perhitungan CI (t dan bootstrap).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EDA: struktur, missing, outlier (IQR), histogram &amp; boxplot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Simulasi: 1.000 sampel, n=50 → distribusi rata-rata sampel</a:t>
            </a:r>
          </a:p>
          <a:p>
            <a:pPr algn="just" marL="647700" indent="-323850" lvl="1">
              <a:lnSpc>
                <a:spcPts val="48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CI: satu sampel n=100 (t) + bootstrap (5.000 resample)</a:t>
            </a:r>
          </a:p>
          <a:p>
            <a:pPr algn="just" marL="0" indent="0" lvl="0">
              <a:lnSpc>
                <a:spcPts val="4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387502" y="4962481"/>
            <a:ext cx="6826306" cy="5324519"/>
          </a:xfrm>
          <a:custGeom>
            <a:avLst/>
            <a:gdLst/>
            <a:ahLst/>
            <a:cxnLst/>
            <a:rect r="r" b="b" t="t" l="l"/>
            <a:pathLst>
              <a:path h="5324519" w="6826306">
                <a:moveTo>
                  <a:pt x="0" y="0"/>
                </a:moveTo>
                <a:lnTo>
                  <a:pt x="6826306" y="0"/>
                </a:lnTo>
                <a:lnTo>
                  <a:pt x="6826306" y="5324519"/>
                </a:lnTo>
                <a:lnTo>
                  <a:pt x="0" y="53245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299467" y="9002719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2"/>
                </a:lnTo>
                <a:lnTo>
                  <a:pt x="0" y="2568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47031" y="1889082"/>
            <a:ext cx="10340471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9000" spc="-675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Metode Si</a:t>
            </a:r>
            <a:r>
              <a:rPr lang="en-US" b="true" sz="9000" spc="-675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ngkat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25873" y="-3128763"/>
            <a:ext cx="17947711" cy="16544527"/>
          </a:xfrm>
          <a:custGeom>
            <a:avLst/>
            <a:gdLst/>
            <a:ahLst/>
            <a:cxnLst/>
            <a:rect r="r" b="b" t="t" l="l"/>
            <a:pathLst>
              <a:path h="16544527" w="17947711">
                <a:moveTo>
                  <a:pt x="0" y="0"/>
                </a:moveTo>
                <a:lnTo>
                  <a:pt x="17947712" y="0"/>
                </a:lnTo>
                <a:lnTo>
                  <a:pt x="17947712" y="16544526"/>
                </a:lnTo>
                <a:lnTo>
                  <a:pt x="0" y="165445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70489" y="2380718"/>
            <a:ext cx="6621479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n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 = 100.000; Mean = 5.009,35 ms; SD = 2.880,76 ms; rentang 10–9.999 ms; skewness ≈ -0,008; kurtosis ≈ -1,196 (platykurtic).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70489" y="6147443"/>
            <a:ext cx="6621479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IQR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 bounds: -4.963,5 ms hingga 14.976,5 ms → 0 outlier (0,00%). Distribusi tampak relatif seragam tanpa ekor ekstrem.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0489" y="1922537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S</a:t>
            </a: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tatistik Ringkas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0489" y="5639443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Outlier &amp; D</a:t>
            </a: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istribusi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25943" y="4129539"/>
            <a:ext cx="6826306" cy="5324519"/>
          </a:xfrm>
          <a:custGeom>
            <a:avLst/>
            <a:gdLst/>
            <a:ahLst/>
            <a:cxnLst/>
            <a:rect r="r" b="b" t="t" l="l"/>
            <a:pathLst>
              <a:path h="5324519" w="6826306">
                <a:moveTo>
                  <a:pt x="0" y="0"/>
                </a:moveTo>
                <a:lnTo>
                  <a:pt x="6826306" y="0"/>
                </a:lnTo>
                <a:lnTo>
                  <a:pt x="6826306" y="5324519"/>
                </a:lnTo>
                <a:lnTo>
                  <a:pt x="0" y="53245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031168" y="9258300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1"/>
                </a:lnTo>
                <a:lnTo>
                  <a:pt x="0" y="25685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47775"/>
            <a:ext cx="8714131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spc="-524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Temuan EDA - Gambara</a:t>
            </a:r>
            <a:r>
              <a:rPr lang="en-US" b="true" sz="6999" spc="-52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 </a:t>
            </a:r>
          </a:p>
          <a:p>
            <a:pPr algn="l">
              <a:lnSpc>
                <a:spcPts val="6299"/>
              </a:lnSpc>
            </a:pPr>
            <a:r>
              <a:rPr lang="en-US" b="true" sz="6999" spc="-52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Umum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2516" y="-2783292"/>
            <a:ext cx="16236278" cy="14966896"/>
          </a:xfrm>
          <a:custGeom>
            <a:avLst/>
            <a:gdLst/>
            <a:ahLst/>
            <a:cxnLst/>
            <a:rect r="r" b="b" t="t" l="l"/>
            <a:pathLst>
              <a:path h="14966896" w="16236278">
                <a:moveTo>
                  <a:pt x="0" y="0"/>
                </a:moveTo>
                <a:lnTo>
                  <a:pt x="16236278" y="0"/>
                </a:lnTo>
                <a:lnTo>
                  <a:pt x="16236278" y="14966896"/>
                </a:lnTo>
                <a:lnTo>
                  <a:pt x="0" y="149668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8042" y="6226033"/>
            <a:ext cx="4953083" cy="3971472"/>
          </a:xfrm>
          <a:custGeom>
            <a:avLst/>
            <a:gdLst/>
            <a:ahLst/>
            <a:cxnLst/>
            <a:rect r="r" b="b" t="t" l="l"/>
            <a:pathLst>
              <a:path h="3971472" w="4953083">
                <a:moveTo>
                  <a:pt x="0" y="0"/>
                </a:moveTo>
                <a:lnTo>
                  <a:pt x="4953083" y="0"/>
                </a:lnTo>
                <a:lnTo>
                  <a:pt x="4953083" y="3971472"/>
                </a:lnTo>
                <a:lnTo>
                  <a:pt x="0" y="39714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95445" y="8211769"/>
            <a:ext cx="6727709" cy="4905112"/>
          </a:xfrm>
          <a:custGeom>
            <a:avLst/>
            <a:gdLst/>
            <a:ahLst/>
            <a:cxnLst/>
            <a:rect r="r" b="b" t="t" l="l"/>
            <a:pathLst>
              <a:path h="4905112" w="6727709">
                <a:moveTo>
                  <a:pt x="0" y="0"/>
                </a:moveTo>
                <a:lnTo>
                  <a:pt x="6727710" y="0"/>
                </a:lnTo>
                <a:lnTo>
                  <a:pt x="6727710" y="4905112"/>
                </a:lnTo>
                <a:lnTo>
                  <a:pt x="0" y="49051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87799" y="-2783292"/>
            <a:ext cx="5228418" cy="3811992"/>
          </a:xfrm>
          <a:custGeom>
            <a:avLst/>
            <a:gdLst/>
            <a:ahLst/>
            <a:cxnLst/>
            <a:rect r="r" b="b" t="t" l="l"/>
            <a:pathLst>
              <a:path h="3811992" w="5228418">
                <a:moveTo>
                  <a:pt x="0" y="0"/>
                </a:moveTo>
                <a:lnTo>
                  <a:pt x="5228417" y="0"/>
                </a:lnTo>
                <a:lnTo>
                  <a:pt x="5228417" y="3811992"/>
                </a:lnTo>
                <a:lnTo>
                  <a:pt x="0" y="38119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72191" y="-1128800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1"/>
                </a:lnTo>
                <a:lnTo>
                  <a:pt x="0" y="256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713163" y="2681535"/>
            <a:ext cx="7256439" cy="298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Rata‑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rata Response_Time_ms per Severity sangat konsisten (selisih &lt;1%). Contoh rata‑rata: Low ≈ 5.002 ms, Critical ≈ 5.025 ms. Per Anomaly_Type berkisar 4.974–5.045 ms (selisih &lt;1,5%).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3163" y="6089626"/>
            <a:ext cx="7256439" cy="18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2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esimpulan: Severity dan jenis anomali tidak berpengaruh signifikan terhadap waktu respons dalam dataset ini.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031" y="2172923"/>
            <a:ext cx="6225485" cy="322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999" spc="-524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Analisis per Kategori (Severity &amp; A</a:t>
            </a:r>
            <a:r>
              <a:rPr lang="en-US" b="true" sz="6999" spc="-52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nomaly_Type)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51373" y="-3077166"/>
            <a:ext cx="18953645" cy="17471814"/>
          </a:xfrm>
          <a:custGeom>
            <a:avLst/>
            <a:gdLst/>
            <a:ahLst/>
            <a:cxnLst/>
            <a:rect r="r" b="b" t="t" l="l"/>
            <a:pathLst>
              <a:path h="17471814" w="18953645">
                <a:moveTo>
                  <a:pt x="0" y="0"/>
                </a:moveTo>
                <a:lnTo>
                  <a:pt x="18953644" y="0"/>
                </a:lnTo>
                <a:lnTo>
                  <a:pt x="18953644" y="17471814"/>
                </a:lnTo>
                <a:lnTo>
                  <a:pt x="0" y="174718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59634" y="-1284281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2"/>
                </a:lnTo>
                <a:lnTo>
                  <a:pt x="0" y="25685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541456"/>
            <a:ext cx="6225485" cy="2124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8999" spc="-674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Tren Insiden Hari</a:t>
            </a:r>
            <a:r>
              <a:rPr lang="en-US" b="true" sz="8999" spc="-67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70086" y="3144141"/>
            <a:ext cx="6621479" cy="251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Jumlah insiden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 per hari stabil ~1.400 selama 1 Jan–11 Mar 2025, dengan penurunan tajam pada akhir periode (kemungkinan artefak pencatatan).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70086" y="2685960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Ringkasan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5343525"/>
            <a:ext cx="7835308" cy="4441640"/>
          </a:xfrm>
          <a:custGeom>
            <a:avLst/>
            <a:gdLst/>
            <a:ahLst/>
            <a:cxnLst/>
            <a:rect r="r" b="b" t="t" l="l"/>
            <a:pathLst>
              <a:path h="4441640" w="7835308">
                <a:moveTo>
                  <a:pt x="0" y="0"/>
                </a:moveTo>
                <a:lnTo>
                  <a:pt x="7835308" y="0"/>
                </a:lnTo>
                <a:lnTo>
                  <a:pt x="7835308" y="4441640"/>
                </a:lnTo>
                <a:lnTo>
                  <a:pt x="0" y="4441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61971" y="-2696471"/>
            <a:ext cx="17332167" cy="15977107"/>
          </a:xfrm>
          <a:custGeom>
            <a:avLst/>
            <a:gdLst/>
            <a:ahLst/>
            <a:cxnLst/>
            <a:rect r="r" b="b" t="t" l="l"/>
            <a:pathLst>
              <a:path h="15977107" w="17332167">
                <a:moveTo>
                  <a:pt x="0" y="0"/>
                </a:moveTo>
                <a:lnTo>
                  <a:pt x="17332167" y="0"/>
                </a:lnTo>
                <a:lnTo>
                  <a:pt x="17332167" y="15977106"/>
                </a:lnTo>
                <a:lnTo>
                  <a:pt x="0" y="15977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1098" y="8601911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1"/>
                </a:lnTo>
                <a:lnTo>
                  <a:pt x="0" y="256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700470"/>
            <a:ext cx="6225485" cy="314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99"/>
              </a:lnSpc>
            </a:pPr>
            <a:r>
              <a:rPr lang="en-US" sz="8999" spc="-674" b="true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Ringkasan Temuan Utam</a:t>
            </a:r>
            <a:r>
              <a:rPr lang="en-US" b="true" sz="8999" spc="-67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0489" y="2380718"/>
            <a:ext cx="662147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R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elatif seragam dan simetris; mean ≈ 5.009 ms; tanpa outlier signifikan.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70489" y="4536432"/>
            <a:ext cx="662147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Severity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 dan Anomaly_Type tidak berpengaruh signifikan (selisih rata‑rata &lt;1,5%).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70489" y="7301857"/>
            <a:ext cx="6621479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Simul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asi mendukung CLT; CI 95% valid dan didukung bootstrap.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70489" y="1922537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Dis</a:t>
            </a: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tribusi Response_Time_ms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70489" y="4028432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Pengaruh Ka</a:t>
            </a: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tegori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0489" y="6793857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Infer</a:t>
            </a: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ensial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1098" y="-2845053"/>
            <a:ext cx="17332167" cy="15977107"/>
          </a:xfrm>
          <a:custGeom>
            <a:avLst/>
            <a:gdLst/>
            <a:ahLst/>
            <a:cxnLst/>
            <a:rect r="r" b="b" t="t" l="l"/>
            <a:pathLst>
              <a:path h="15977107" w="17332167">
                <a:moveTo>
                  <a:pt x="0" y="0"/>
                </a:moveTo>
                <a:lnTo>
                  <a:pt x="17332167" y="0"/>
                </a:lnTo>
                <a:lnTo>
                  <a:pt x="17332167" y="15977106"/>
                </a:lnTo>
                <a:lnTo>
                  <a:pt x="0" y="159771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1098" y="8601911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1" y="0"/>
                </a:lnTo>
                <a:lnTo>
                  <a:pt x="2568561" y="2568561"/>
                </a:lnTo>
                <a:lnTo>
                  <a:pt x="0" y="25685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700470"/>
            <a:ext cx="6630909" cy="3143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99"/>
              </a:lnSpc>
            </a:pPr>
            <a:r>
              <a:rPr lang="en-US" b="true" sz="8999" spc="-674">
                <a:solidFill>
                  <a:srgbClr val="000000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Kesimpulan &amp; Rekomendasi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999709" y="2100983"/>
            <a:ext cx="6621479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R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esponse_Time_ms stabil ~5.009 ms; CLT terbukti; CI 95% mencakup mean populasi → estimasi andal.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99709" y="4905375"/>
            <a:ext cx="6621479" cy="434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00"/>
              </a:lnSpc>
            </a:pP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Gunakan data riil</a:t>
            </a:r>
            <a:r>
              <a:rPr lang="en-US" sz="3000">
                <a:solidFill>
                  <a:srgbClr val="000000"/>
                </a:solidFill>
                <a:latin typeface="Thicker"/>
                <a:ea typeface="Thicker"/>
                <a:cs typeface="Thicker"/>
                <a:sym typeface="Thicker"/>
              </a:rPr>
              <a:t> organisasi untuk representasi lebih baik; analisis faktor tambahan (Alert_Method, Service_Type); uji model ML (mis. GLSTM) untuk deteksi anomali lanjutan; komunikasikan potensi misleading pada simulasi.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99709" y="1642802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Kesimpulan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99709" y="4397375"/>
            <a:ext cx="6621479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-150" b="true">
                <a:solidFill>
                  <a:srgbClr val="000000"/>
                </a:solidFill>
                <a:latin typeface="Thicker Bold"/>
                <a:ea typeface="Thicker Bold"/>
                <a:cs typeface="Thicker Bold"/>
                <a:sym typeface="Thicker Bold"/>
              </a:rPr>
              <a:t>Saran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D0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5425" y="-689021"/>
            <a:ext cx="14171941" cy="13063953"/>
          </a:xfrm>
          <a:custGeom>
            <a:avLst/>
            <a:gdLst/>
            <a:ahLst/>
            <a:cxnLst/>
            <a:rect r="r" b="b" t="t" l="l"/>
            <a:pathLst>
              <a:path h="13063953" w="14171941">
                <a:moveTo>
                  <a:pt x="0" y="0"/>
                </a:moveTo>
                <a:lnTo>
                  <a:pt x="14171941" y="0"/>
                </a:lnTo>
                <a:lnTo>
                  <a:pt x="14171941" y="13063953"/>
                </a:lnTo>
                <a:lnTo>
                  <a:pt x="0" y="130639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63335" y="3046331"/>
            <a:ext cx="11161329" cy="4594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7628"/>
              </a:lnSpc>
            </a:pPr>
            <a:r>
              <a:rPr lang="en-US" sz="18173">
                <a:solidFill>
                  <a:srgbClr val="000000"/>
                </a:solidFill>
                <a:latin typeface="Saint George"/>
                <a:ea typeface="Saint George"/>
                <a:cs typeface="Saint George"/>
                <a:sym typeface="Saint George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643444" y="4204263"/>
            <a:ext cx="6826306" cy="5324519"/>
          </a:xfrm>
          <a:custGeom>
            <a:avLst/>
            <a:gdLst/>
            <a:ahLst/>
            <a:cxnLst/>
            <a:rect r="r" b="b" t="t" l="l"/>
            <a:pathLst>
              <a:path h="5324519" w="6826306">
                <a:moveTo>
                  <a:pt x="0" y="0"/>
                </a:moveTo>
                <a:lnTo>
                  <a:pt x="6826306" y="0"/>
                </a:lnTo>
                <a:lnTo>
                  <a:pt x="6826306" y="5324518"/>
                </a:lnTo>
                <a:lnTo>
                  <a:pt x="0" y="53245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953301" y="-689021"/>
            <a:ext cx="8547087" cy="6853209"/>
          </a:xfrm>
          <a:custGeom>
            <a:avLst/>
            <a:gdLst/>
            <a:ahLst/>
            <a:cxnLst/>
            <a:rect r="r" b="b" t="t" l="l"/>
            <a:pathLst>
              <a:path h="6853209" w="8547087">
                <a:moveTo>
                  <a:pt x="0" y="0"/>
                </a:moveTo>
                <a:lnTo>
                  <a:pt x="8547087" y="0"/>
                </a:lnTo>
                <a:lnTo>
                  <a:pt x="8547087" y="6853209"/>
                </a:lnTo>
                <a:lnTo>
                  <a:pt x="0" y="68532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20243" y="7640719"/>
            <a:ext cx="8547087" cy="6853209"/>
          </a:xfrm>
          <a:custGeom>
            <a:avLst/>
            <a:gdLst/>
            <a:ahLst/>
            <a:cxnLst/>
            <a:rect r="r" b="b" t="t" l="l"/>
            <a:pathLst>
              <a:path h="6853209" w="8547087">
                <a:moveTo>
                  <a:pt x="0" y="0"/>
                </a:moveTo>
                <a:lnTo>
                  <a:pt x="8547086" y="0"/>
                </a:lnTo>
                <a:lnTo>
                  <a:pt x="8547086" y="6853210"/>
                </a:lnTo>
                <a:lnTo>
                  <a:pt x="0" y="68532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31421" y="1166322"/>
            <a:ext cx="2568561" cy="2568561"/>
          </a:xfrm>
          <a:custGeom>
            <a:avLst/>
            <a:gdLst/>
            <a:ahLst/>
            <a:cxnLst/>
            <a:rect r="r" b="b" t="t" l="l"/>
            <a:pathLst>
              <a:path h="2568561" w="2568561">
                <a:moveTo>
                  <a:pt x="0" y="0"/>
                </a:moveTo>
                <a:lnTo>
                  <a:pt x="2568562" y="0"/>
                </a:lnTo>
                <a:lnTo>
                  <a:pt x="2568562" y="2568561"/>
                </a:lnTo>
                <a:lnTo>
                  <a:pt x="0" y="25685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DAHN7uQLHT8</dc:identifier>
  <dcterms:modified xsi:type="dcterms:W3CDTF">2011-08-01T06:04:30Z</dcterms:modified>
  <cp:revision>1</cp:revision>
  <dc:title>Tugas EAS_Kelompok 5_Statistika dan Analitika Data Siber Bisnis</dc:title>
</cp:coreProperties>
</file>